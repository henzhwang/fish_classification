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/>
    <p:restoredTop sz="93859"/>
  </p:normalViewPr>
  <p:slideViewPr>
    <p:cSldViewPr snapToGrid="0">
      <p:cViewPr varScale="1">
        <p:scale>
          <a:sx n="132" d="100"/>
          <a:sy n="132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3B4CB-AAD7-4ED2-956E-E1A67A1C8FB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A8E6E0CD-744C-4DFA-A864-E24ADDBA061C}">
      <dgm:prSet/>
      <dgm:spPr/>
      <dgm:t>
        <a:bodyPr/>
        <a:lstStyle/>
        <a:p>
          <a:pPr>
            <a:defRPr b="1"/>
          </a:pPr>
          <a:r>
            <a:rPr kumimoji="1" lang="en-US" dirty="0"/>
            <a:t>Trawling / Netting</a:t>
          </a:r>
          <a:endParaRPr lang="en-US" dirty="0"/>
        </a:p>
      </dgm:t>
    </dgm:pt>
    <dgm:pt modelId="{ED148135-8F62-4B27-96F0-24A7BA0855B9}" type="parTrans" cxnId="{BFB94020-57D3-4437-B17C-4E87AC0FD48F}">
      <dgm:prSet/>
      <dgm:spPr/>
      <dgm:t>
        <a:bodyPr/>
        <a:lstStyle/>
        <a:p>
          <a:endParaRPr lang="en-US"/>
        </a:p>
      </dgm:t>
    </dgm:pt>
    <dgm:pt modelId="{DA1942B4-1B09-43FA-9B0B-595D7B9DAF72}" type="sibTrans" cxnId="{BFB94020-57D3-4437-B17C-4E87AC0FD48F}">
      <dgm:prSet/>
      <dgm:spPr/>
      <dgm:t>
        <a:bodyPr/>
        <a:lstStyle/>
        <a:p>
          <a:endParaRPr lang="en-US"/>
        </a:p>
      </dgm:t>
    </dgm:pt>
    <dgm:pt modelId="{1DB41F82-655D-4669-BFBB-7F0D802ECD64}">
      <dgm:prSet/>
      <dgm:spPr/>
      <dgm:t>
        <a:bodyPr/>
        <a:lstStyle/>
        <a:p>
          <a:r>
            <a:rPr kumimoji="1" lang="en-CA" dirty="0"/>
            <a:t>- Towing a large, cone-shaped net (a trawl) through the water to catch fish</a:t>
          </a:r>
          <a:endParaRPr lang="en-US" dirty="0"/>
        </a:p>
      </dgm:t>
    </dgm:pt>
    <dgm:pt modelId="{3EA04011-B30C-4EDD-BB46-14FD727556D0}" type="parTrans" cxnId="{D434E583-B6BD-4A2E-89BF-9DFF1E98C74F}">
      <dgm:prSet/>
      <dgm:spPr/>
      <dgm:t>
        <a:bodyPr/>
        <a:lstStyle/>
        <a:p>
          <a:endParaRPr lang="en-US"/>
        </a:p>
      </dgm:t>
    </dgm:pt>
    <dgm:pt modelId="{6C2BFC8C-C2B6-42C9-87F1-D02199AD9741}" type="sibTrans" cxnId="{D434E583-B6BD-4A2E-89BF-9DFF1E98C74F}">
      <dgm:prSet/>
      <dgm:spPr/>
      <dgm:t>
        <a:bodyPr/>
        <a:lstStyle/>
        <a:p>
          <a:endParaRPr lang="en-US"/>
        </a:p>
      </dgm:t>
    </dgm:pt>
    <dgm:pt modelId="{E51731FA-5D0B-41F9-848C-D5FEABB02011}">
      <dgm:prSet/>
      <dgm:spPr/>
      <dgm:t>
        <a:bodyPr/>
        <a:lstStyle/>
        <a:p>
          <a:r>
            <a:rPr kumimoji="1" lang="en-CA" dirty="0"/>
            <a:t>- Invasive and harm fish population</a:t>
          </a:r>
          <a:endParaRPr lang="en-US" dirty="0"/>
        </a:p>
      </dgm:t>
    </dgm:pt>
    <dgm:pt modelId="{FA5C1F20-B970-4218-A988-C3A19A171E1E}" type="parTrans" cxnId="{2D1F2DE4-E9DB-4BD1-9325-F8B70AED40B0}">
      <dgm:prSet/>
      <dgm:spPr/>
      <dgm:t>
        <a:bodyPr/>
        <a:lstStyle/>
        <a:p>
          <a:endParaRPr lang="en-US"/>
        </a:p>
      </dgm:t>
    </dgm:pt>
    <dgm:pt modelId="{F66D9EA8-46F1-484C-907B-74447906DCFE}" type="sibTrans" cxnId="{2D1F2DE4-E9DB-4BD1-9325-F8B70AED40B0}">
      <dgm:prSet/>
      <dgm:spPr/>
      <dgm:t>
        <a:bodyPr/>
        <a:lstStyle/>
        <a:p>
          <a:endParaRPr lang="en-US"/>
        </a:p>
      </dgm:t>
    </dgm:pt>
    <dgm:pt modelId="{8F6E4500-4237-4FC3-8CA0-062A58C4A54B}">
      <dgm:prSet/>
      <dgm:spPr/>
      <dgm:t>
        <a:bodyPr/>
        <a:lstStyle/>
        <a:p>
          <a:r>
            <a:rPr kumimoji="1" lang="en-CA" dirty="0"/>
            <a:t>- Time consuming and expensive</a:t>
          </a:r>
          <a:endParaRPr lang="en-US" dirty="0"/>
        </a:p>
      </dgm:t>
    </dgm:pt>
    <dgm:pt modelId="{C63C4168-B2A3-4481-B44F-32E478E68091}" type="parTrans" cxnId="{20CAC1B9-3376-4238-AC9A-3D87F024F43E}">
      <dgm:prSet/>
      <dgm:spPr/>
      <dgm:t>
        <a:bodyPr/>
        <a:lstStyle/>
        <a:p>
          <a:endParaRPr lang="en-US"/>
        </a:p>
      </dgm:t>
    </dgm:pt>
    <dgm:pt modelId="{58121EBF-C9FE-41C1-A2AE-0CE979520714}" type="sibTrans" cxnId="{20CAC1B9-3376-4238-AC9A-3D87F024F43E}">
      <dgm:prSet/>
      <dgm:spPr/>
      <dgm:t>
        <a:bodyPr/>
        <a:lstStyle/>
        <a:p>
          <a:endParaRPr lang="en-US"/>
        </a:p>
      </dgm:t>
    </dgm:pt>
    <dgm:pt modelId="{4D1A663A-9189-41B2-B076-D08EA3A5DED9}">
      <dgm:prSet/>
      <dgm:spPr/>
      <dgm:t>
        <a:bodyPr/>
        <a:lstStyle/>
        <a:p>
          <a:r>
            <a:rPr kumimoji="1" lang="en-CA" dirty="0"/>
            <a:t>- Limit large-scale or frequent monitoring</a:t>
          </a:r>
          <a:endParaRPr lang="en-US" dirty="0"/>
        </a:p>
      </dgm:t>
    </dgm:pt>
    <dgm:pt modelId="{0EC95F23-C273-4B07-9B7D-8FA98A9EF897}" type="parTrans" cxnId="{A7851A56-D41A-4C94-94AA-37CCF9C53BC2}">
      <dgm:prSet/>
      <dgm:spPr/>
      <dgm:t>
        <a:bodyPr/>
        <a:lstStyle/>
        <a:p>
          <a:endParaRPr lang="en-US"/>
        </a:p>
      </dgm:t>
    </dgm:pt>
    <dgm:pt modelId="{1808554F-4E3E-40D3-983A-9FFA54FA03E3}" type="sibTrans" cxnId="{A7851A56-D41A-4C94-94AA-37CCF9C53BC2}">
      <dgm:prSet/>
      <dgm:spPr/>
      <dgm:t>
        <a:bodyPr/>
        <a:lstStyle/>
        <a:p>
          <a:endParaRPr lang="en-US"/>
        </a:p>
      </dgm:t>
    </dgm:pt>
    <dgm:pt modelId="{AC361553-1057-4093-92EA-E293D5F11274}">
      <dgm:prSet/>
      <dgm:spPr/>
      <dgm:t>
        <a:bodyPr/>
        <a:lstStyle/>
        <a:p>
          <a:pPr>
            <a:defRPr b="1"/>
          </a:pPr>
          <a:r>
            <a:rPr kumimoji="1" lang="en-US"/>
            <a:t>Hydroacoustic</a:t>
          </a:r>
          <a:endParaRPr lang="en-US"/>
        </a:p>
      </dgm:t>
    </dgm:pt>
    <dgm:pt modelId="{DF287C09-F7B0-4D9D-A1B0-BE37556964D7}" type="parTrans" cxnId="{908B42E9-723D-4747-814D-703E0F3DCAE5}">
      <dgm:prSet/>
      <dgm:spPr/>
      <dgm:t>
        <a:bodyPr/>
        <a:lstStyle/>
        <a:p>
          <a:endParaRPr lang="en-US"/>
        </a:p>
      </dgm:t>
    </dgm:pt>
    <dgm:pt modelId="{BDCB7926-6AAF-46BD-923F-2E535F0DD924}" type="sibTrans" cxnId="{908B42E9-723D-4747-814D-703E0F3DCAE5}">
      <dgm:prSet/>
      <dgm:spPr/>
      <dgm:t>
        <a:bodyPr/>
        <a:lstStyle/>
        <a:p>
          <a:endParaRPr lang="en-US"/>
        </a:p>
      </dgm:t>
    </dgm:pt>
    <dgm:pt modelId="{B694582B-BEB8-47DA-BA82-84F52A029207}">
      <dgm:prSet/>
      <dgm:spPr/>
      <dgm:t>
        <a:bodyPr/>
        <a:lstStyle/>
        <a:p>
          <a:r>
            <a:rPr kumimoji="1" lang="en-CA" dirty="0"/>
            <a:t>- Uses sonar technology to track and assess fish populations and their behavior by analyzing sound waves reflected off fish</a:t>
          </a:r>
          <a:endParaRPr lang="en-US" dirty="0"/>
        </a:p>
      </dgm:t>
    </dgm:pt>
    <dgm:pt modelId="{DAD7D121-93DC-4ABE-9D5B-70B9BB4D9C85}" type="parTrans" cxnId="{EB9FF998-5F60-4B63-BCE4-44A322C34F8E}">
      <dgm:prSet/>
      <dgm:spPr/>
      <dgm:t>
        <a:bodyPr/>
        <a:lstStyle/>
        <a:p>
          <a:endParaRPr lang="en-US"/>
        </a:p>
      </dgm:t>
    </dgm:pt>
    <dgm:pt modelId="{60F95F9A-36D8-435A-80C9-6E38397BF9DC}" type="sibTrans" cxnId="{EB9FF998-5F60-4B63-BCE4-44A322C34F8E}">
      <dgm:prSet/>
      <dgm:spPr/>
      <dgm:t>
        <a:bodyPr/>
        <a:lstStyle/>
        <a:p>
          <a:endParaRPr lang="en-US"/>
        </a:p>
      </dgm:t>
    </dgm:pt>
    <dgm:pt modelId="{1F1FBD03-374C-4967-9330-C9FD21D4F8E4}">
      <dgm:prSet/>
      <dgm:spPr/>
      <dgm:t>
        <a:bodyPr/>
        <a:lstStyle/>
        <a:p>
          <a:r>
            <a:rPr kumimoji="1" lang="en-CA" dirty="0"/>
            <a:t>- Non-invasive </a:t>
          </a:r>
          <a:endParaRPr lang="en-US" dirty="0"/>
        </a:p>
      </dgm:t>
    </dgm:pt>
    <dgm:pt modelId="{2931A91C-B0D1-4EF3-9E8B-8DE90D36E84B}" type="parTrans" cxnId="{38BE6F88-05F4-4F9E-BAFF-EBBC0AD46972}">
      <dgm:prSet/>
      <dgm:spPr/>
      <dgm:t>
        <a:bodyPr/>
        <a:lstStyle/>
        <a:p>
          <a:endParaRPr lang="en-US"/>
        </a:p>
      </dgm:t>
    </dgm:pt>
    <dgm:pt modelId="{DCDD0AF9-F16E-418E-A26F-6DA728ED26C4}" type="sibTrans" cxnId="{38BE6F88-05F4-4F9E-BAFF-EBBC0AD46972}">
      <dgm:prSet/>
      <dgm:spPr/>
      <dgm:t>
        <a:bodyPr/>
        <a:lstStyle/>
        <a:p>
          <a:endParaRPr lang="en-US"/>
        </a:p>
      </dgm:t>
    </dgm:pt>
    <dgm:pt modelId="{BEF25810-3987-4ADF-B34A-46159C0B3610}">
      <dgm:prSet/>
      <dgm:spPr/>
      <dgm:t>
        <a:bodyPr/>
        <a:lstStyle/>
        <a:p>
          <a:r>
            <a:rPr kumimoji="1" lang="en-CA" dirty="0"/>
            <a:t>- Rely on manual interpretation</a:t>
          </a:r>
          <a:endParaRPr lang="en-US" dirty="0"/>
        </a:p>
      </dgm:t>
    </dgm:pt>
    <dgm:pt modelId="{70422C9E-EFB0-422C-B5BE-66A0C7236093}" type="parTrans" cxnId="{F621E8F0-149F-4AF8-943F-012CD78F0829}">
      <dgm:prSet/>
      <dgm:spPr/>
      <dgm:t>
        <a:bodyPr/>
        <a:lstStyle/>
        <a:p>
          <a:endParaRPr lang="en-US"/>
        </a:p>
      </dgm:t>
    </dgm:pt>
    <dgm:pt modelId="{D9719D42-1AAE-4515-B552-B8C51630C6A1}" type="sibTrans" cxnId="{F621E8F0-149F-4AF8-943F-012CD78F0829}">
      <dgm:prSet/>
      <dgm:spPr/>
      <dgm:t>
        <a:bodyPr/>
        <a:lstStyle/>
        <a:p>
          <a:endParaRPr lang="en-US"/>
        </a:p>
      </dgm:t>
    </dgm:pt>
    <dgm:pt modelId="{412ED271-C852-4DD3-B75C-95DC3B9F7B35}" type="pres">
      <dgm:prSet presAssocID="{A823B4CB-AAD7-4ED2-956E-E1A67A1C8FBF}" presName="root" presStyleCnt="0">
        <dgm:presLayoutVars>
          <dgm:dir/>
          <dgm:resizeHandles val="exact"/>
        </dgm:presLayoutVars>
      </dgm:prSet>
      <dgm:spPr/>
    </dgm:pt>
    <dgm:pt modelId="{5E69D02E-EE97-4BF8-8C73-4A37C327072D}" type="pres">
      <dgm:prSet presAssocID="{A8E6E0CD-744C-4DFA-A864-E24ADDBA061C}" presName="compNode" presStyleCnt="0"/>
      <dgm:spPr/>
    </dgm:pt>
    <dgm:pt modelId="{93A6F336-989B-4DEC-8418-92E596634AB5}" type="pres">
      <dgm:prSet presAssocID="{A8E6E0CD-744C-4DFA-A864-E24ADDBA061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拼圖"/>
        </a:ext>
      </dgm:extLst>
    </dgm:pt>
    <dgm:pt modelId="{DF2439DC-9027-446F-B27B-B522AD10605A}" type="pres">
      <dgm:prSet presAssocID="{A8E6E0CD-744C-4DFA-A864-E24ADDBA061C}" presName="iconSpace" presStyleCnt="0"/>
      <dgm:spPr/>
    </dgm:pt>
    <dgm:pt modelId="{F9B0171B-C25A-44D3-BE44-6FA8EDE0F8D6}" type="pres">
      <dgm:prSet presAssocID="{A8E6E0CD-744C-4DFA-A864-E24ADDBA061C}" presName="parTx" presStyleLbl="revTx" presStyleIdx="0" presStyleCnt="4">
        <dgm:presLayoutVars>
          <dgm:chMax val="0"/>
          <dgm:chPref val="0"/>
        </dgm:presLayoutVars>
      </dgm:prSet>
      <dgm:spPr/>
    </dgm:pt>
    <dgm:pt modelId="{262E77E0-83E2-44F1-9B68-245D463C956F}" type="pres">
      <dgm:prSet presAssocID="{A8E6E0CD-744C-4DFA-A864-E24ADDBA061C}" presName="txSpace" presStyleCnt="0"/>
      <dgm:spPr/>
    </dgm:pt>
    <dgm:pt modelId="{6C6EE71E-EE69-47D8-A572-1F41E7968CDB}" type="pres">
      <dgm:prSet presAssocID="{A8E6E0CD-744C-4DFA-A864-E24ADDBA061C}" presName="desTx" presStyleLbl="revTx" presStyleIdx="1" presStyleCnt="4">
        <dgm:presLayoutVars/>
      </dgm:prSet>
      <dgm:spPr/>
    </dgm:pt>
    <dgm:pt modelId="{C4B01E0D-3BB4-471F-B73D-5FA9E59B05E5}" type="pres">
      <dgm:prSet presAssocID="{DA1942B4-1B09-43FA-9B0B-595D7B9DAF72}" presName="sibTrans" presStyleCnt="0"/>
      <dgm:spPr/>
    </dgm:pt>
    <dgm:pt modelId="{9E6A93B0-4099-4772-9701-F70770C2733E}" type="pres">
      <dgm:prSet presAssocID="{AC361553-1057-4093-92EA-E293D5F11274}" presName="compNode" presStyleCnt="0"/>
      <dgm:spPr/>
    </dgm:pt>
    <dgm:pt modelId="{38365661-5C4A-45DA-97AF-3639EC191BFF}" type="pres">
      <dgm:prSet presAssocID="{AC361553-1057-4093-92EA-E293D5F1127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魚"/>
        </a:ext>
      </dgm:extLst>
    </dgm:pt>
    <dgm:pt modelId="{8F809C7A-DDFA-4473-A853-215087738BB9}" type="pres">
      <dgm:prSet presAssocID="{AC361553-1057-4093-92EA-E293D5F11274}" presName="iconSpace" presStyleCnt="0"/>
      <dgm:spPr/>
    </dgm:pt>
    <dgm:pt modelId="{C720D1F3-36D9-453F-A72E-259D8A473449}" type="pres">
      <dgm:prSet presAssocID="{AC361553-1057-4093-92EA-E293D5F11274}" presName="parTx" presStyleLbl="revTx" presStyleIdx="2" presStyleCnt="4">
        <dgm:presLayoutVars>
          <dgm:chMax val="0"/>
          <dgm:chPref val="0"/>
        </dgm:presLayoutVars>
      </dgm:prSet>
      <dgm:spPr/>
    </dgm:pt>
    <dgm:pt modelId="{2B124EB6-66C7-431C-8773-EA8C43E68DFB}" type="pres">
      <dgm:prSet presAssocID="{AC361553-1057-4093-92EA-E293D5F11274}" presName="txSpace" presStyleCnt="0"/>
      <dgm:spPr/>
    </dgm:pt>
    <dgm:pt modelId="{B36939FE-D081-46D3-922C-8875A4791651}" type="pres">
      <dgm:prSet presAssocID="{AC361553-1057-4093-92EA-E293D5F11274}" presName="desTx" presStyleLbl="revTx" presStyleIdx="3" presStyleCnt="4" custScaleX="107853" custScaleY="97750">
        <dgm:presLayoutVars/>
      </dgm:prSet>
      <dgm:spPr/>
    </dgm:pt>
  </dgm:ptLst>
  <dgm:cxnLst>
    <dgm:cxn modelId="{88838A06-979C-4451-8B56-F9DE9EAABF5C}" type="presOf" srcId="{E51731FA-5D0B-41F9-848C-D5FEABB02011}" destId="{6C6EE71E-EE69-47D8-A572-1F41E7968CDB}" srcOrd="0" destOrd="1" presId="urn:microsoft.com/office/officeart/2018/2/layout/IconLabelDescriptionList"/>
    <dgm:cxn modelId="{943BD81C-6D83-472B-9954-12125691FC88}" type="presOf" srcId="{B694582B-BEB8-47DA-BA82-84F52A029207}" destId="{B36939FE-D081-46D3-922C-8875A4791651}" srcOrd="0" destOrd="0" presId="urn:microsoft.com/office/officeart/2018/2/layout/IconLabelDescriptionList"/>
    <dgm:cxn modelId="{BFB94020-57D3-4437-B17C-4E87AC0FD48F}" srcId="{A823B4CB-AAD7-4ED2-956E-E1A67A1C8FBF}" destId="{A8E6E0CD-744C-4DFA-A864-E24ADDBA061C}" srcOrd="0" destOrd="0" parTransId="{ED148135-8F62-4B27-96F0-24A7BA0855B9}" sibTransId="{DA1942B4-1B09-43FA-9B0B-595D7B9DAF72}"/>
    <dgm:cxn modelId="{0FF54A2D-9912-4426-9909-459C16184296}" type="presOf" srcId="{1DB41F82-655D-4669-BFBB-7F0D802ECD64}" destId="{6C6EE71E-EE69-47D8-A572-1F41E7968CDB}" srcOrd="0" destOrd="0" presId="urn:microsoft.com/office/officeart/2018/2/layout/IconLabelDescriptionList"/>
    <dgm:cxn modelId="{8D87E638-48E7-4403-9438-EF57DB8DD5E2}" type="presOf" srcId="{A8E6E0CD-744C-4DFA-A864-E24ADDBA061C}" destId="{F9B0171B-C25A-44D3-BE44-6FA8EDE0F8D6}" srcOrd="0" destOrd="0" presId="urn:microsoft.com/office/officeart/2018/2/layout/IconLabelDescriptionList"/>
    <dgm:cxn modelId="{EA3DC347-7A39-4957-AFE5-92E4123C1886}" type="presOf" srcId="{A823B4CB-AAD7-4ED2-956E-E1A67A1C8FBF}" destId="{412ED271-C852-4DD3-B75C-95DC3B9F7B35}" srcOrd="0" destOrd="0" presId="urn:microsoft.com/office/officeart/2018/2/layout/IconLabelDescriptionList"/>
    <dgm:cxn modelId="{A7851A56-D41A-4C94-94AA-37CCF9C53BC2}" srcId="{A8E6E0CD-744C-4DFA-A864-E24ADDBA061C}" destId="{4D1A663A-9189-41B2-B076-D08EA3A5DED9}" srcOrd="3" destOrd="0" parTransId="{0EC95F23-C273-4B07-9B7D-8FA98A9EF897}" sibTransId="{1808554F-4E3E-40D3-983A-9FFA54FA03E3}"/>
    <dgm:cxn modelId="{D434E583-B6BD-4A2E-89BF-9DFF1E98C74F}" srcId="{A8E6E0CD-744C-4DFA-A864-E24ADDBA061C}" destId="{1DB41F82-655D-4669-BFBB-7F0D802ECD64}" srcOrd="0" destOrd="0" parTransId="{3EA04011-B30C-4EDD-BB46-14FD727556D0}" sibTransId="{6C2BFC8C-C2B6-42C9-87F1-D02199AD9741}"/>
    <dgm:cxn modelId="{38BE6F88-05F4-4F9E-BAFF-EBBC0AD46972}" srcId="{AC361553-1057-4093-92EA-E293D5F11274}" destId="{1F1FBD03-374C-4967-9330-C9FD21D4F8E4}" srcOrd="1" destOrd="0" parTransId="{2931A91C-B0D1-4EF3-9E8B-8DE90D36E84B}" sibTransId="{DCDD0AF9-F16E-418E-A26F-6DA728ED26C4}"/>
    <dgm:cxn modelId="{5AEF4596-DD45-4A70-B514-070828E02716}" type="presOf" srcId="{1F1FBD03-374C-4967-9330-C9FD21D4F8E4}" destId="{B36939FE-D081-46D3-922C-8875A4791651}" srcOrd="0" destOrd="1" presId="urn:microsoft.com/office/officeart/2018/2/layout/IconLabelDescriptionList"/>
    <dgm:cxn modelId="{EB9FF998-5F60-4B63-BCE4-44A322C34F8E}" srcId="{AC361553-1057-4093-92EA-E293D5F11274}" destId="{B694582B-BEB8-47DA-BA82-84F52A029207}" srcOrd="0" destOrd="0" parTransId="{DAD7D121-93DC-4ABE-9D5B-70B9BB4D9C85}" sibTransId="{60F95F9A-36D8-435A-80C9-6E38397BF9DC}"/>
    <dgm:cxn modelId="{20CAC1B9-3376-4238-AC9A-3D87F024F43E}" srcId="{A8E6E0CD-744C-4DFA-A864-E24ADDBA061C}" destId="{8F6E4500-4237-4FC3-8CA0-062A58C4A54B}" srcOrd="2" destOrd="0" parTransId="{C63C4168-B2A3-4481-B44F-32E478E68091}" sibTransId="{58121EBF-C9FE-41C1-A2AE-0CE979520714}"/>
    <dgm:cxn modelId="{210C36CB-B926-4596-B074-FA4D20B5AFAF}" type="presOf" srcId="{AC361553-1057-4093-92EA-E293D5F11274}" destId="{C720D1F3-36D9-453F-A72E-259D8A473449}" srcOrd="0" destOrd="0" presId="urn:microsoft.com/office/officeart/2018/2/layout/IconLabelDescriptionList"/>
    <dgm:cxn modelId="{C877A4CE-F4F1-4D14-B47F-B529F19E3958}" type="presOf" srcId="{8F6E4500-4237-4FC3-8CA0-062A58C4A54B}" destId="{6C6EE71E-EE69-47D8-A572-1F41E7968CDB}" srcOrd="0" destOrd="2" presId="urn:microsoft.com/office/officeart/2018/2/layout/IconLabelDescriptionList"/>
    <dgm:cxn modelId="{67E9AFCF-127B-46DC-8EC3-2267D4620DD0}" type="presOf" srcId="{4D1A663A-9189-41B2-B076-D08EA3A5DED9}" destId="{6C6EE71E-EE69-47D8-A572-1F41E7968CDB}" srcOrd="0" destOrd="3" presId="urn:microsoft.com/office/officeart/2018/2/layout/IconLabelDescriptionList"/>
    <dgm:cxn modelId="{DCE0A0DA-4A19-47E6-A41C-FE2F01B1C781}" type="presOf" srcId="{BEF25810-3987-4ADF-B34A-46159C0B3610}" destId="{B36939FE-D081-46D3-922C-8875A4791651}" srcOrd="0" destOrd="2" presId="urn:microsoft.com/office/officeart/2018/2/layout/IconLabelDescriptionList"/>
    <dgm:cxn modelId="{2D1F2DE4-E9DB-4BD1-9325-F8B70AED40B0}" srcId="{A8E6E0CD-744C-4DFA-A864-E24ADDBA061C}" destId="{E51731FA-5D0B-41F9-848C-D5FEABB02011}" srcOrd="1" destOrd="0" parTransId="{FA5C1F20-B970-4218-A988-C3A19A171E1E}" sibTransId="{F66D9EA8-46F1-484C-907B-74447906DCFE}"/>
    <dgm:cxn modelId="{908B42E9-723D-4747-814D-703E0F3DCAE5}" srcId="{A823B4CB-AAD7-4ED2-956E-E1A67A1C8FBF}" destId="{AC361553-1057-4093-92EA-E293D5F11274}" srcOrd="1" destOrd="0" parTransId="{DF287C09-F7B0-4D9D-A1B0-BE37556964D7}" sibTransId="{BDCB7926-6AAF-46BD-923F-2E535F0DD924}"/>
    <dgm:cxn modelId="{F621E8F0-149F-4AF8-943F-012CD78F0829}" srcId="{AC361553-1057-4093-92EA-E293D5F11274}" destId="{BEF25810-3987-4ADF-B34A-46159C0B3610}" srcOrd="2" destOrd="0" parTransId="{70422C9E-EFB0-422C-B5BE-66A0C7236093}" sibTransId="{D9719D42-1AAE-4515-B552-B8C51630C6A1}"/>
    <dgm:cxn modelId="{B9773059-3F3C-4193-B4F6-965037AE456F}" type="presParOf" srcId="{412ED271-C852-4DD3-B75C-95DC3B9F7B35}" destId="{5E69D02E-EE97-4BF8-8C73-4A37C327072D}" srcOrd="0" destOrd="0" presId="urn:microsoft.com/office/officeart/2018/2/layout/IconLabelDescriptionList"/>
    <dgm:cxn modelId="{5F909F81-004B-4AB5-855E-F3E2557BACE8}" type="presParOf" srcId="{5E69D02E-EE97-4BF8-8C73-4A37C327072D}" destId="{93A6F336-989B-4DEC-8418-92E596634AB5}" srcOrd="0" destOrd="0" presId="urn:microsoft.com/office/officeart/2018/2/layout/IconLabelDescriptionList"/>
    <dgm:cxn modelId="{E196DC6B-A627-4B37-93F9-003F1E1E8F61}" type="presParOf" srcId="{5E69D02E-EE97-4BF8-8C73-4A37C327072D}" destId="{DF2439DC-9027-446F-B27B-B522AD10605A}" srcOrd="1" destOrd="0" presId="urn:microsoft.com/office/officeart/2018/2/layout/IconLabelDescriptionList"/>
    <dgm:cxn modelId="{6C43F52A-0C55-4791-9053-0FB9889C37A4}" type="presParOf" srcId="{5E69D02E-EE97-4BF8-8C73-4A37C327072D}" destId="{F9B0171B-C25A-44D3-BE44-6FA8EDE0F8D6}" srcOrd="2" destOrd="0" presId="urn:microsoft.com/office/officeart/2018/2/layout/IconLabelDescriptionList"/>
    <dgm:cxn modelId="{1F38ABE2-9E41-449B-B9EF-E0B431BB2947}" type="presParOf" srcId="{5E69D02E-EE97-4BF8-8C73-4A37C327072D}" destId="{262E77E0-83E2-44F1-9B68-245D463C956F}" srcOrd="3" destOrd="0" presId="urn:microsoft.com/office/officeart/2018/2/layout/IconLabelDescriptionList"/>
    <dgm:cxn modelId="{1451BB47-CCB9-469A-8C0E-C8C4A4590F55}" type="presParOf" srcId="{5E69D02E-EE97-4BF8-8C73-4A37C327072D}" destId="{6C6EE71E-EE69-47D8-A572-1F41E7968CDB}" srcOrd="4" destOrd="0" presId="urn:microsoft.com/office/officeart/2018/2/layout/IconLabelDescriptionList"/>
    <dgm:cxn modelId="{1895E979-86ED-456F-8F53-F87F7F033F55}" type="presParOf" srcId="{412ED271-C852-4DD3-B75C-95DC3B9F7B35}" destId="{C4B01E0D-3BB4-471F-B73D-5FA9E59B05E5}" srcOrd="1" destOrd="0" presId="urn:microsoft.com/office/officeart/2018/2/layout/IconLabelDescriptionList"/>
    <dgm:cxn modelId="{84BD478C-FAF5-4A3E-A21D-CB7E9702E525}" type="presParOf" srcId="{412ED271-C852-4DD3-B75C-95DC3B9F7B35}" destId="{9E6A93B0-4099-4772-9701-F70770C2733E}" srcOrd="2" destOrd="0" presId="urn:microsoft.com/office/officeart/2018/2/layout/IconLabelDescriptionList"/>
    <dgm:cxn modelId="{3EC27191-3BDD-409E-B5AB-2597670F5EE8}" type="presParOf" srcId="{9E6A93B0-4099-4772-9701-F70770C2733E}" destId="{38365661-5C4A-45DA-97AF-3639EC191BFF}" srcOrd="0" destOrd="0" presId="urn:microsoft.com/office/officeart/2018/2/layout/IconLabelDescriptionList"/>
    <dgm:cxn modelId="{AF702901-DA15-4127-8437-23850F4B4E54}" type="presParOf" srcId="{9E6A93B0-4099-4772-9701-F70770C2733E}" destId="{8F809C7A-DDFA-4473-A853-215087738BB9}" srcOrd="1" destOrd="0" presId="urn:microsoft.com/office/officeart/2018/2/layout/IconLabelDescriptionList"/>
    <dgm:cxn modelId="{A45F2F18-DE27-4C7C-B156-D2D98692D4AE}" type="presParOf" srcId="{9E6A93B0-4099-4772-9701-F70770C2733E}" destId="{C720D1F3-36D9-453F-A72E-259D8A473449}" srcOrd="2" destOrd="0" presId="urn:microsoft.com/office/officeart/2018/2/layout/IconLabelDescriptionList"/>
    <dgm:cxn modelId="{259DEED7-DA11-4FF6-99B1-C51918F62F6A}" type="presParOf" srcId="{9E6A93B0-4099-4772-9701-F70770C2733E}" destId="{2B124EB6-66C7-431C-8773-EA8C43E68DFB}" srcOrd="3" destOrd="0" presId="urn:microsoft.com/office/officeart/2018/2/layout/IconLabelDescriptionList"/>
    <dgm:cxn modelId="{74635DBB-7840-4F50-845F-668DC31022C0}" type="presParOf" srcId="{9E6A93B0-4099-4772-9701-F70770C2733E}" destId="{B36939FE-D081-46D3-922C-8875A479165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6F336-989B-4DEC-8418-92E596634AB5}">
      <dsp:nvSpPr>
        <dsp:cNvPr id="0" name=""/>
        <dsp:cNvSpPr/>
      </dsp:nvSpPr>
      <dsp:spPr>
        <a:xfrm>
          <a:off x="478281" y="21542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0171B-C25A-44D3-BE44-6FA8EDE0F8D6}">
      <dsp:nvSpPr>
        <dsp:cNvPr id="0" name=""/>
        <dsp:cNvSpPr/>
      </dsp:nvSpPr>
      <dsp:spPr>
        <a:xfrm>
          <a:off x="478281" y="189017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3600" kern="1200" dirty="0"/>
            <a:t>Trawling / Netting</a:t>
          </a:r>
          <a:endParaRPr lang="en-US" sz="3600" kern="1200" dirty="0"/>
        </a:p>
      </dsp:txBody>
      <dsp:txXfrm>
        <a:off x="478281" y="1890175"/>
        <a:ext cx="4320000" cy="648000"/>
      </dsp:txXfrm>
    </dsp:sp>
    <dsp:sp modelId="{6C6EE71E-EE69-47D8-A572-1F41E7968CDB}">
      <dsp:nvSpPr>
        <dsp:cNvPr id="0" name=""/>
        <dsp:cNvSpPr/>
      </dsp:nvSpPr>
      <dsp:spPr>
        <a:xfrm>
          <a:off x="478281" y="2613874"/>
          <a:ext cx="4320000" cy="1386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Towing a large, cone-shaped net (a trawl) through the water to catch fish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Invasive and harm fish population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Time consuming and expensive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Limit large-scale or frequent monitoring</a:t>
          </a:r>
          <a:endParaRPr lang="en-US" sz="1700" kern="1200" dirty="0"/>
        </a:p>
      </dsp:txBody>
      <dsp:txXfrm>
        <a:off x="478281" y="2613874"/>
        <a:ext cx="4320000" cy="1386512"/>
      </dsp:txXfrm>
    </dsp:sp>
    <dsp:sp modelId="{38365661-5C4A-45DA-97AF-3639EC191BFF}">
      <dsp:nvSpPr>
        <dsp:cNvPr id="0" name=""/>
        <dsp:cNvSpPr/>
      </dsp:nvSpPr>
      <dsp:spPr>
        <a:xfrm>
          <a:off x="5723905" y="23864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0D1F3-36D9-453F-A72E-259D8A473449}">
      <dsp:nvSpPr>
        <dsp:cNvPr id="0" name=""/>
        <dsp:cNvSpPr/>
      </dsp:nvSpPr>
      <dsp:spPr>
        <a:xfrm>
          <a:off x="5723905" y="191339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3600" kern="1200"/>
            <a:t>Hydroacoustic</a:t>
          </a:r>
          <a:endParaRPr lang="en-US" sz="3600" kern="1200"/>
        </a:p>
      </dsp:txBody>
      <dsp:txXfrm>
        <a:off x="5723905" y="1913397"/>
        <a:ext cx="4320000" cy="648000"/>
      </dsp:txXfrm>
    </dsp:sp>
    <dsp:sp modelId="{B36939FE-D081-46D3-922C-8875A4791651}">
      <dsp:nvSpPr>
        <dsp:cNvPr id="0" name=""/>
        <dsp:cNvSpPr/>
      </dsp:nvSpPr>
      <dsp:spPr>
        <a:xfrm>
          <a:off x="5554281" y="2652344"/>
          <a:ext cx="4659249" cy="1324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Uses sonar technology to track and assess fish populations and their behavior by analyzing sound waves reflected off fish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Non-invasive 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CA" sz="1700" kern="1200" dirty="0"/>
            <a:t>- Rely on manual interpretation</a:t>
          </a:r>
          <a:endParaRPr lang="en-US" sz="1700" kern="1200" dirty="0"/>
        </a:p>
      </dsp:txBody>
      <dsp:txXfrm>
        <a:off x="5554281" y="2652344"/>
        <a:ext cx="4659249" cy="13248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6B955-BBEA-5140-9F9A-305F6F4BC9B0}" type="datetimeFigureOut">
              <a:rPr kumimoji="1" lang="zh-HK" altLang="en-US" smtClean="0"/>
              <a:t>02/04/25</a:t>
            </a:fld>
            <a:endParaRPr kumimoji="1"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72D23-4337-CD40-9529-D35B7AF22DAD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45916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HK" dirty="0"/>
              <a:t>Multinomial Regression</a:t>
            </a:r>
          </a:p>
          <a:p>
            <a:pPr lvl="1"/>
            <a:r>
              <a:rPr kumimoji="1" lang="en-US" altLang="zh-HK" dirty="0"/>
              <a:t>Simple baseline model to test linear relationship in the data</a:t>
            </a:r>
          </a:p>
          <a:p>
            <a:pPr lvl="1"/>
            <a:r>
              <a:rPr kumimoji="1" lang="en-US" altLang="zh-HK" dirty="0"/>
              <a:t>Provide interpretable results and computationally lightweight</a:t>
            </a:r>
          </a:p>
          <a:p>
            <a:r>
              <a:rPr kumimoji="1" lang="en-US" altLang="zh-HK" dirty="0"/>
              <a:t>Random Forest</a:t>
            </a:r>
          </a:p>
          <a:p>
            <a:pPr lvl="1"/>
            <a:r>
              <a:rPr kumimoji="1" lang="en-US" altLang="zh-HK" dirty="0"/>
              <a:t>Handle hierarchical structure of high-dimensional  fish signatures</a:t>
            </a:r>
          </a:p>
          <a:p>
            <a:pPr lvl="1"/>
            <a:r>
              <a:rPr kumimoji="1" lang="en-US" altLang="zh-HK" dirty="0"/>
              <a:t>Robust to noise and overfitting, reveal feature importance</a:t>
            </a:r>
          </a:p>
          <a:p>
            <a:r>
              <a:rPr kumimoji="1" lang="en-US" altLang="zh-HK" dirty="0"/>
              <a:t>Deep Neural Network</a:t>
            </a:r>
          </a:p>
          <a:p>
            <a:pPr lvl="1"/>
            <a:r>
              <a:rPr kumimoji="1" lang="en-US" altLang="zh-HK" dirty="0"/>
              <a:t>Learn complex, non-linear hierarchical interactions</a:t>
            </a:r>
          </a:p>
          <a:p>
            <a:pPr lvl="1"/>
            <a:r>
              <a:rPr kumimoji="1" lang="en-US" altLang="zh-HK" dirty="0"/>
              <a:t>High accuracy with </a:t>
            </a:r>
          </a:p>
          <a:p>
            <a:r>
              <a:rPr kumimoji="1" lang="en-US" altLang="zh-HK" dirty="0"/>
              <a:t>LSTM (Long Short-Term Memory)</a:t>
            </a:r>
          </a:p>
          <a:p>
            <a:pPr lvl="1"/>
            <a:r>
              <a:rPr kumimoji="1" lang="en-US" altLang="zh-HK" dirty="0"/>
              <a:t>Designed for sequential data</a:t>
            </a:r>
          </a:p>
          <a:p>
            <a:pPr lvl="1"/>
            <a:r>
              <a:rPr kumimoji="1" lang="en-US" altLang="zh-HK" dirty="0"/>
              <a:t>Incorporate fish habitat context for temporal patterns</a:t>
            </a:r>
            <a:endParaRPr kumimoji="1" lang="zh-HK" altLang="en-US" dirty="0"/>
          </a:p>
          <a:p>
            <a:endParaRPr kumimoji="1"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2D23-4337-CD40-9529-D35B7AF22DAD}" type="slidenum">
              <a:rPr kumimoji="1" lang="zh-HK" altLang="en-US" smtClean="0"/>
              <a:t>8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311611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6BDE-4536-D8F6-A9A8-DB7D7E6F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881549D-39DE-F1B3-CA35-85742C584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4A8194-6E30-650D-75F8-D051EA32E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HK" dirty="0"/>
              <a:t>Multinomial Regression</a:t>
            </a:r>
          </a:p>
          <a:p>
            <a:pPr lvl="1"/>
            <a:r>
              <a:rPr kumimoji="1" lang="en-US" altLang="zh-HK" dirty="0"/>
              <a:t>Simple baseline model to test linear relationship in the data</a:t>
            </a:r>
          </a:p>
          <a:p>
            <a:pPr lvl="1"/>
            <a:r>
              <a:rPr kumimoji="1" lang="en-US" altLang="zh-HK" dirty="0"/>
              <a:t>Provide interpretable results and computationally lightweight</a:t>
            </a:r>
          </a:p>
          <a:p>
            <a:r>
              <a:rPr kumimoji="1" lang="en-US" altLang="zh-HK" dirty="0"/>
              <a:t>Random Forest</a:t>
            </a:r>
          </a:p>
          <a:p>
            <a:pPr lvl="1"/>
            <a:r>
              <a:rPr kumimoji="1" lang="en-US" altLang="zh-HK" dirty="0"/>
              <a:t>Handle hierarchical structure of high-dimensional  fish signatures</a:t>
            </a:r>
          </a:p>
          <a:p>
            <a:pPr lvl="1"/>
            <a:r>
              <a:rPr kumimoji="1" lang="en-US" altLang="zh-HK" dirty="0"/>
              <a:t>Robust to noise and overfitting, reveal feature importance</a:t>
            </a:r>
          </a:p>
          <a:p>
            <a:r>
              <a:rPr kumimoji="1" lang="en-US" altLang="zh-HK" dirty="0"/>
              <a:t>Deep Neural Network</a:t>
            </a:r>
          </a:p>
          <a:p>
            <a:pPr lvl="1"/>
            <a:r>
              <a:rPr kumimoji="1" lang="en-US" altLang="zh-HK" dirty="0"/>
              <a:t>Learn complex, non-linear hierarchical interactions</a:t>
            </a:r>
          </a:p>
          <a:p>
            <a:pPr lvl="1"/>
            <a:r>
              <a:rPr kumimoji="1" lang="en-US" altLang="zh-HK" dirty="0"/>
              <a:t>High accuracy with </a:t>
            </a:r>
          </a:p>
          <a:p>
            <a:r>
              <a:rPr kumimoji="1" lang="en-US" altLang="zh-HK" dirty="0"/>
              <a:t>LSTM (Long Short-Term Memory)</a:t>
            </a:r>
          </a:p>
          <a:p>
            <a:pPr lvl="1"/>
            <a:r>
              <a:rPr kumimoji="1" lang="en-US" altLang="zh-HK" dirty="0"/>
              <a:t>Designed for sequential data</a:t>
            </a:r>
          </a:p>
          <a:p>
            <a:pPr lvl="1"/>
            <a:r>
              <a:rPr kumimoji="1" lang="en-US" altLang="zh-HK" dirty="0"/>
              <a:t>Incorporate fish habitat context for temporal patterns</a:t>
            </a:r>
            <a:endParaRPr kumimoji="1" lang="zh-HK" altLang="en-US" dirty="0"/>
          </a:p>
          <a:p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649CCB-9118-1EC9-B4FB-4006DAF85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2D23-4337-CD40-9529-D35B7AF22DAD}" type="slidenum">
              <a:rPr kumimoji="1" lang="zh-HK" altLang="en-US" smtClean="0"/>
              <a:t>9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443012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7956-E283-9E17-F72E-9B6A3A21C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6D03007-72D1-FBE6-68C5-A06E7948D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0F8CE1-64F4-C05E-31CD-B61316312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HK" dirty="0"/>
              <a:t>Multinomial Regression</a:t>
            </a:r>
          </a:p>
          <a:p>
            <a:pPr lvl="1"/>
            <a:r>
              <a:rPr kumimoji="1" lang="en-US" altLang="zh-HK" dirty="0"/>
              <a:t>Simple baseline model to test linear relationship in the data</a:t>
            </a:r>
          </a:p>
          <a:p>
            <a:pPr lvl="1"/>
            <a:r>
              <a:rPr kumimoji="1" lang="en-US" altLang="zh-HK" dirty="0"/>
              <a:t>Provide interpretable results and computationally lightweight</a:t>
            </a:r>
          </a:p>
          <a:p>
            <a:r>
              <a:rPr kumimoji="1" lang="en-US" altLang="zh-HK" dirty="0"/>
              <a:t>Random Forest</a:t>
            </a:r>
          </a:p>
          <a:p>
            <a:pPr lvl="1"/>
            <a:r>
              <a:rPr kumimoji="1" lang="en-US" altLang="zh-HK" dirty="0"/>
              <a:t>Handle hierarchical structure of high-dimensional  fish signatures</a:t>
            </a:r>
          </a:p>
          <a:p>
            <a:pPr lvl="1"/>
            <a:r>
              <a:rPr kumimoji="1" lang="en-US" altLang="zh-HK" dirty="0"/>
              <a:t>Robust to noise and overfitting, reveal feature importance</a:t>
            </a:r>
          </a:p>
          <a:p>
            <a:r>
              <a:rPr kumimoji="1" lang="en-US" altLang="zh-HK" dirty="0"/>
              <a:t>Deep Neural Network</a:t>
            </a:r>
          </a:p>
          <a:p>
            <a:pPr lvl="1"/>
            <a:r>
              <a:rPr kumimoji="1" lang="en-US" altLang="zh-HK" dirty="0"/>
              <a:t>Learn complex, non-linear hierarchical interactions</a:t>
            </a:r>
          </a:p>
          <a:p>
            <a:pPr lvl="1"/>
            <a:r>
              <a:rPr kumimoji="1" lang="en-US" altLang="zh-HK" dirty="0"/>
              <a:t>High accuracy with </a:t>
            </a:r>
          </a:p>
          <a:p>
            <a:r>
              <a:rPr kumimoji="1" lang="en-US" altLang="zh-HK" dirty="0"/>
              <a:t>LSTM (Long Short-Term Memory)</a:t>
            </a:r>
          </a:p>
          <a:p>
            <a:pPr lvl="1"/>
            <a:r>
              <a:rPr kumimoji="1" lang="en-US" altLang="zh-HK" dirty="0"/>
              <a:t>Designed for sequential data</a:t>
            </a:r>
          </a:p>
          <a:p>
            <a:pPr lvl="1"/>
            <a:r>
              <a:rPr kumimoji="1" lang="en-US" altLang="zh-HK" dirty="0"/>
              <a:t>Incorporate fish habitat context for temporal patterns</a:t>
            </a:r>
            <a:endParaRPr kumimoji="1" lang="zh-HK" altLang="en-US" dirty="0"/>
          </a:p>
          <a:p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DD3A6A-B3DF-0169-3B50-7398439A6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2D23-4337-CD40-9529-D35B7AF22DAD}" type="slidenum">
              <a:rPr kumimoji="1" lang="zh-HK" altLang="en-US" smtClean="0"/>
              <a:t>10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342353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9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6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9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2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4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2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5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6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4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96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ca.ca/conservation/aquatic-ecosystems/aquatic-habitat-biodiversity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zhwang/STA245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視訊 3" descr="一群魚">
            <a:extLst>
              <a:ext uri="{FF2B5EF4-FFF2-40B4-BE49-F238E27FC236}">
                <a16:creationId xmlns:a16="http://schemas.microsoft.com/office/drawing/2014/main" id="{37F90424-4D2F-D8A7-8016-B76D77D378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1" y="10"/>
            <a:ext cx="12192000" cy="68579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5997AC-0325-4416-909F-5CE54C428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5"/>
            <a:ext cx="48768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5025EA5-1967-AFCF-8DC6-8FF66EB58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25907"/>
            <a:ext cx="3485776" cy="3830882"/>
          </a:xfrm>
        </p:spPr>
        <p:txBody>
          <a:bodyPr>
            <a:normAutofit/>
          </a:bodyPr>
          <a:lstStyle/>
          <a:p>
            <a:r>
              <a:rPr kumimoji="1" lang="en-US" altLang="zh-HK" sz="3600"/>
              <a:t>Automated Fish Species Classification Using Sonar and Machine Learning</a:t>
            </a:r>
            <a:endParaRPr kumimoji="1" lang="zh-HK" altLang="en-US" sz="360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66E362-BD27-1D54-F95C-418176384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885362"/>
            <a:ext cx="3343277" cy="970588"/>
          </a:xfrm>
        </p:spPr>
        <p:txBody>
          <a:bodyPr>
            <a:normAutofit/>
          </a:bodyPr>
          <a:lstStyle/>
          <a:p>
            <a:r>
              <a:rPr kumimoji="1" lang="en-US" altLang="zh-HK" sz="1600" dirty="0" err="1"/>
              <a:t>Shiheng</a:t>
            </a:r>
            <a:r>
              <a:rPr kumimoji="1" lang="en-US" altLang="zh-HK" sz="1600" dirty="0"/>
              <a:t> Huang</a:t>
            </a:r>
            <a:endParaRPr kumimoji="1" lang="zh-HK" altLang="en-US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16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0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9A49B62-7DC9-6510-0742-C75B76F2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kumimoji="1" lang="en-US" altLang="zh-HK" dirty="0"/>
              <a:t>Background</a:t>
            </a:r>
            <a:endParaRPr kumimoji="1" lang="zh-HK" altLang="en-US" dirty="0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CA 溪流电捕鱼团队对当地水生栖息地和生物多样性进行监测">
            <a:extLst>
              <a:ext uri="{FF2B5EF4-FFF2-40B4-BE49-F238E27FC236}">
                <a16:creationId xmlns:a16="http://schemas.microsoft.com/office/drawing/2014/main" id="{4AC7916E-FFCA-ABCC-E026-63A7C5CED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088" y="2188988"/>
            <a:ext cx="6072188" cy="317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C04BE7-6022-84A1-3B35-BD8A5198A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689" y="2084353"/>
            <a:ext cx="4191001" cy="3277343"/>
          </a:xfrm>
        </p:spPr>
        <p:txBody>
          <a:bodyPr anchor="b">
            <a:normAutofit/>
          </a:bodyPr>
          <a:lstStyle/>
          <a:p>
            <a:r>
              <a:rPr kumimoji="1" lang="en-US" altLang="zh-HK" dirty="0"/>
              <a:t>Ontario Government needs to perform ecological monitoring in Ontario lakes </a:t>
            </a:r>
          </a:p>
          <a:p>
            <a:pPr lvl="1"/>
            <a:r>
              <a:rPr kumimoji="1" lang="en-US" altLang="zh-HK" dirty="0"/>
              <a:t>To know what’s in the lake</a:t>
            </a:r>
          </a:p>
          <a:p>
            <a:pPr lvl="1"/>
            <a:r>
              <a:rPr kumimoji="1" lang="en-US" altLang="zh-HK" dirty="0"/>
              <a:t>Approximate fish population</a:t>
            </a:r>
          </a:p>
          <a:p>
            <a:pPr lvl="1"/>
            <a:r>
              <a:rPr kumimoji="1" lang="en-US" altLang="zh-HK" dirty="0"/>
              <a:t>Provide guidance for the inland fisheries</a:t>
            </a:r>
          </a:p>
          <a:p>
            <a:pPr marL="0" indent="0">
              <a:buNone/>
            </a:pPr>
            <a:endParaRPr kumimoji="1" lang="en-US" altLang="zh-HK" dirty="0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5FC6C953-FA7A-B336-2BA3-A0F76D56BB58}"/>
              </a:ext>
            </a:extLst>
          </p:cNvPr>
          <p:cNvSpPr txBox="1"/>
          <p:nvPr/>
        </p:nvSpPr>
        <p:spPr>
          <a:xfrm>
            <a:off x="804672" y="6232097"/>
            <a:ext cx="7387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sz="1200" dirty="0"/>
              <a:t>Picture sources from </a:t>
            </a:r>
            <a:r>
              <a:rPr kumimoji="1" lang="en-US" altLang="zh-HK" sz="1200" dirty="0">
                <a:hlinkClick r:id="rId3"/>
              </a:rPr>
              <a:t>Toronto and Region Conservation Authority</a:t>
            </a:r>
            <a:endParaRPr kumimoji="1" lang="zh-HK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76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259E374-C7F5-0CE1-04F6-F6F41CBA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kumimoji="1" lang="en-US" altLang="zh-HK" dirty="0"/>
              <a:t>Existing Methods</a:t>
            </a:r>
            <a:endParaRPr kumimoji="1" lang="zh-HK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7ADAEDDE-7912-0AF2-0204-885E0B5C4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815488"/>
              </p:ext>
            </p:extLst>
          </p:nvPr>
        </p:nvGraphicFramePr>
        <p:xfrm>
          <a:off x="606828" y="1633539"/>
          <a:ext cx="10691812" cy="4215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054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D8200-20C6-5921-6112-638BAA59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/>
              <a:t>Research Questions</a:t>
            </a:r>
            <a:endParaRPr kumimoji="1"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EA3AE4-1816-B995-80EA-D442EBD5E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757639"/>
            <a:ext cx="10691265" cy="1878370"/>
          </a:xfrm>
        </p:spPr>
        <p:txBody>
          <a:bodyPr/>
          <a:lstStyle/>
          <a:p>
            <a:r>
              <a:rPr kumimoji="1" lang="en-US" altLang="zh-HK" dirty="0"/>
              <a:t>Developed automated workflow to implement hydroacoustic with Machine Learning techniques</a:t>
            </a:r>
          </a:p>
          <a:p>
            <a:pPr lvl="1"/>
            <a:r>
              <a:rPr kumimoji="1" lang="en-US" altLang="zh-HK" dirty="0"/>
              <a:t>Build Machine Learning models to automatically classify fish species using labeled data</a:t>
            </a:r>
          </a:p>
          <a:p>
            <a:pPr lvl="1"/>
            <a:r>
              <a:rPr kumimoji="1" lang="en-US" altLang="zh-HK" dirty="0"/>
              <a:t>Focus on fish-level classification at the moment</a:t>
            </a:r>
            <a:endParaRPr kumimoji="1"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3894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C77C3-DFB8-F3BB-1D40-75F74A66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83750"/>
            <a:ext cx="10691265" cy="736131"/>
          </a:xfrm>
        </p:spPr>
        <p:txBody>
          <a:bodyPr/>
          <a:lstStyle/>
          <a:p>
            <a:r>
              <a:rPr kumimoji="1" lang="en-US" altLang="zh-HK" dirty="0"/>
              <a:t>Data - RAW</a:t>
            </a:r>
            <a:endParaRPr kumimoji="1" lang="zh-HK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2BF66C79-1C19-8760-9F54-3989AA6FB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8829566"/>
              </p:ext>
            </p:extLst>
          </p:nvPr>
        </p:nvGraphicFramePr>
        <p:xfrm>
          <a:off x="807825" y="3281628"/>
          <a:ext cx="10576350" cy="2708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150">
                  <a:extLst>
                    <a:ext uri="{9D8B030D-6E8A-4147-A177-3AD203B41FA5}">
                      <a16:colId xmlns:a16="http://schemas.microsoft.com/office/drawing/2014/main" val="2162186612"/>
                    </a:ext>
                  </a:extLst>
                </a:gridCol>
                <a:gridCol w="1320915">
                  <a:extLst>
                    <a:ext uri="{9D8B030D-6E8A-4147-A177-3AD203B41FA5}">
                      <a16:colId xmlns:a16="http://schemas.microsoft.com/office/drawing/2014/main" val="2275761646"/>
                    </a:ext>
                  </a:extLst>
                </a:gridCol>
                <a:gridCol w="1206326">
                  <a:extLst>
                    <a:ext uri="{9D8B030D-6E8A-4147-A177-3AD203B41FA5}">
                      <a16:colId xmlns:a16="http://schemas.microsoft.com/office/drawing/2014/main" val="4147396702"/>
                    </a:ext>
                  </a:extLst>
                </a:gridCol>
                <a:gridCol w="998209">
                  <a:extLst>
                    <a:ext uri="{9D8B030D-6E8A-4147-A177-3AD203B41FA5}">
                      <a16:colId xmlns:a16="http://schemas.microsoft.com/office/drawing/2014/main" val="3123886157"/>
                    </a:ext>
                  </a:extLst>
                </a:gridCol>
                <a:gridCol w="1175150">
                  <a:extLst>
                    <a:ext uri="{9D8B030D-6E8A-4147-A177-3AD203B41FA5}">
                      <a16:colId xmlns:a16="http://schemas.microsoft.com/office/drawing/2014/main" val="141848638"/>
                    </a:ext>
                  </a:extLst>
                </a:gridCol>
                <a:gridCol w="1175150">
                  <a:extLst>
                    <a:ext uri="{9D8B030D-6E8A-4147-A177-3AD203B41FA5}">
                      <a16:colId xmlns:a16="http://schemas.microsoft.com/office/drawing/2014/main" val="2420165206"/>
                    </a:ext>
                  </a:extLst>
                </a:gridCol>
                <a:gridCol w="1175150">
                  <a:extLst>
                    <a:ext uri="{9D8B030D-6E8A-4147-A177-3AD203B41FA5}">
                      <a16:colId xmlns:a16="http://schemas.microsoft.com/office/drawing/2014/main" val="3092323027"/>
                    </a:ext>
                  </a:extLst>
                </a:gridCol>
                <a:gridCol w="1175150">
                  <a:extLst>
                    <a:ext uri="{9D8B030D-6E8A-4147-A177-3AD203B41FA5}">
                      <a16:colId xmlns:a16="http://schemas.microsoft.com/office/drawing/2014/main" val="258114587"/>
                    </a:ext>
                  </a:extLst>
                </a:gridCol>
                <a:gridCol w="1175150">
                  <a:extLst>
                    <a:ext uri="{9D8B030D-6E8A-4147-A177-3AD203B41FA5}">
                      <a16:colId xmlns:a16="http://schemas.microsoft.com/office/drawing/2014/main" val="3231249855"/>
                    </a:ext>
                  </a:extLst>
                </a:gridCol>
              </a:tblGrid>
              <a:tr h="604902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FishNum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species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totalLength</a:t>
                      </a:r>
                      <a:endParaRPr lang="en-CA" altLang="zh-TW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pingNumber</a:t>
                      </a:r>
                      <a:endParaRPr lang="en-CA" altLang="zh-TW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F260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876399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lakeTrout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599632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LT001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lakeTrout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92762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LT001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lakeTrout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44402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986268"/>
                  </a:ext>
                </a:extLst>
              </a:tr>
              <a:tr h="562948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smallmouthBass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595614"/>
                  </a:ext>
                </a:extLst>
              </a:tr>
            </a:tbl>
          </a:graphicData>
        </a:graphic>
      </p:graphicFrame>
      <p:sp>
        <p:nvSpPr>
          <p:cNvPr id="8" name="左大括弧 7">
            <a:extLst>
              <a:ext uri="{FF2B5EF4-FFF2-40B4-BE49-F238E27FC236}">
                <a16:creationId xmlns:a16="http://schemas.microsoft.com/office/drawing/2014/main" id="{48C92BF5-3E9B-6E7F-066A-66724D0C7CF1}"/>
              </a:ext>
            </a:extLst>
          </p:cNvPr>
          <p:cNvSpPr/>
          <p:nvPr/>
        </p:nvSpPr>
        <p:spPr>
          <a:xfrm rot="5400000">
            <a:off x="4850026" y="1372510"/>
            <a:ext cx="259492" cy="3385751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CD57C0-76FA-E0A8-2EE9-4177BFA36F35}"/>
              </a:ext>
            </a:extLst>
          </p:cNvPr>
          <p:cNvSpPr txBox="1"/>
          <p:nvPr/>
        </p:nvSpPr>
        <p:spPr>
          <a:xfrm>
            <a:off x="3632885" y="2615392"/>
            <a:ext cx="2693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HK" sz="1200" dirty="0"/>
              <a:t>Fish Characteristics</a:t>
            </a:r>
            <a:endParaRPr kumimoji="1" lang="zh-HK" altLang="en-US" sz="1200" dirty="0"/>
          </a:p>
        </p:txBody>
      </p:sp>
      <p:sp>
        <p:nvSpPr>
          <p:cNvPr id="10" name="左大括弧 9">
            <a:extLst>
              <a:ext uri="{FF2B5EF4-FFF2-40B4-BE49-F238E27FC236}">
                <a16:creationId xmlns:a16="http://schemas.microsoft.com/office/drawing/2014/main" id="{C508148E-81B4-E25E-09A6-3A24A9FAF5D0}"/>
              </a:ext>
            </a:extLst>
          </p:cNvPr>
          <p:cNvSpPr/>
          <p:nvPr/>
        </p:nvSpPr>
        <p:spPr>
          <a:xfrm rot="5400000">
            <a:off x="8892942" y="703901"/>
            <a:ext cx="270940" cy="471152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DAB46B8-96BD-CBBE-D71C-90132F1B1C5B}"/>
              </a:ext>
            </a:extLst>
          </p:cNvPr>
          <p:cNvSpPr txBox="1"/>
          <p:nvPr/>
        </p:nvSpPr>
        <p:spPr>
          <a:xfrm>
            <a:off x="7681525" y="2615392"/>
            <a:ext cx="2693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HK" sz="1200" dirty="0"/>
              <a:t>Target Strength</a:t>
            </a:r>
            <a:endParaRPr kumimoji="1" lang="zh-HK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BA0B14-EE42-3598-ED7B-B915FECB2387}"/>
              </a:ext>
            </a:extLst>
          </p:cNvPr>
          <p:cNvSpPr txBox="1"/>
          <p:nvPr/>
        </p:nvSpPr>
        <p:spPr>
          <a:xfrm>
            <a:off x="926758" y="1551683"/>
            <a:ext cx="9700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zh-HK" dirty="0"/>
              <a:t>14574 observations, 484 variables</a:t>
            </a:r>
          </a:p>
          <a:p>
            <a:pPr marL="285750" indent="-285750">
              <a:buFontTx/>
              <a:buChar char="-"/>
            </a:pPr>
            <a:endParaRPr kumimoji="1" lang="zh-HK" altLang="en-US" dirty="0"/>
          </a:p>
          <a:p>
            <a:pPr marL="285750" indent="-285750">
              <a:buFontTx/>
              <a:buChar char="-"/>
            </a:pPr>
            <a:r>
              <a:rPr kumimoji="1" lang="en-US" altLang="zh-HK" dirty="0"/>
              <a:t>21 Lake Trout, 11 Lake Whitefish, 12 Smallmouth Bass</a:t>
            </a:r>
          </a:p>
        </p:txBody>
      </p:sp>
    </p:spTree>
    <p:extLst>
      <p:ext uri="{BB962C8B-B14F-4D97-AF65-F5344CB8AC3E}">
        <p14:creationId xmlns:p14="http://schemas.microsoft.com/office/powerpoint/2010/main" val="218124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90C4F-9935-61F6-8AAB-458F836E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4335"/>
            <a:ext cx="10691265" cy="753762"/>
          </a:xfrm>
        </p:spPr>
        <p:txBody>
          <a:bodyPr/>
          <a:lstStyle/>
          <a:p>
            <a:r>
              <a:rPr kumimoji="1" lang="en-US" altLang="zh-HK" dirty="0"/>
              <a:t>Data - Processed</a:t>
            </a:r>
            <a:endParaRPr kumimoji="1"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D51431-5242-2CC2-C449-C86665603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374969"/>
            <a:ext cx="10691265" cy="1368231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zh-HK" sz="1800" dirty="0">
                <a:solidFill>
                  <a:srgbClr val="FF0000"/>
                </a:solidFill>
              </a:rPr>
              <a:t>14392</a:t>
            </a:r>
            <a:r>
              <a:rPr kumimoji="1" lang="en-US" altLang="zh-HK" sz="1800" dirty="0"/>
              <a:t> observations</a:t>
            </a:r>
            <a:r>
              <a:rPr kumimoji="1" lang="en-US" altLang="zh-HK" sz="1800"/>
              <a:t>, </a:t>
            </a:r>
            <a:r>
              <a:rPr kumimoji="1" lang="en-US" altLang="zh-HK" sz="1800">
                <a:solidFill>
                  <a:srgbClr val="FF0000"/>
                </a:solidFill>
              </a:rPr>
              <a:t>264</a:t>
            </a:r>
            <a:r>
              <a:rPr kumimoji="1" lang="en-US" altLang="zh-HK" sz="1800"/>
              <a:t> </a:t>
            </a:r>
            <a:r>
              <a:rPr kumimoji="1" lang="en-US" altLang="zh-HK" sz="1800" dirty="0"/>
              <a:t>variables</a:t>
            </a:r>
          </a:p>
          <a:p>
            <a:pPr marL="285750" indent="-285750">
              <a:buFontTx/>
              <a:buChar char="-"/>
            </a:pPr>
            <a:endParaRPr kumimoji="1" lang="zh-HK" altLang="en-US" sz="1800" dirty="0"/>
          </a:p>
          <a:p>
            <a:pPr marL="285750" indent="-285750">
              <a:buFontTx/>
              <a:buChar char="-"/>
            </a:pPr>
            <a:r>
              <a:rPr kumimoji="1" lang="en-US" altLang="zh-HK" sz="1800" dirty="0"/>
              <a:t>21 Lake Trout, </a:t>
            </a:r>
            <a:r>
              <a:rPr kumimoji="1" lang="en-US" altLang="zh-HK" sz="1800" dirty="0">
                <a:solidFill>
                  <a:srgbClr val="FF0000"/>
                </a:solidFill>
              </a:rPr>
              <a:t>10</a:t>
            </a:r>
            <a:r>
              <a:rPr kumimoji="1" lang="en-US" altLang="zh-HK" sz="1800" dirty="0"/>
              <a:t> Lake Whitefish, 12 Smallmouth Bass</a:t>
            </a:r>
          </a:p>
        </p:txBody>
      </p:sp>
      <p:graphicFrame>
        <p:nvGraphicFramePr>
          <p:cNvPr id="4" name="內容版面配置區 4">
            <a:extLst>
              <a:ext uri="{FF2B5EF4-FFF2-40B4-BE49-F238E27FC236}">
                <a16:creationId xmlns:a16="http://schemas.microsoft.com/office/drawing/2014/main" id="{0A2CE3C5-9118-DA93-6251-E55F64B556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1332774"/>
              </p:ext>
            </p:extLst>
          </p:nvPr>
        </p:nvGraphicFramePr>
        <p:xfrm>
          <a:off x="807824" y="3175752"/>
          <a:ext cx="10453734" cy="2708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526">
                  <a:extLst>
                    <a:ext uri="{9D8B030D-6E8A-4147-A177-3AD203B41FA5}">
                      <a16:colId xmlns:a16="http://schemas.microsoft.com/office/drawing/2014/main" val="2162186612"/>
                    </a:ext>
                  </a:extLst>
                </a:gridCol>
                <a:gridCol w="1305601">
                  <a:extLst>
                    <a:ext uri="{9D8B030D-6E8A-4147-A177-3AD203B41FA5}">
                      <a16:colId xmlns:a16="http://schemas.microsoft.com/office/drawing/2014/main" val="2275761646"/>
                    </a:ext>
                  </a:extLst>
                </a:gridCol>
                <a:gridCol w="1192341">
                  <a:extLst>
                    <a:ext uri="{9D8B030D-6E8A-4147-A177-3AD203B41FA5}">
                      <a16:colId xmlns:a16="http://schemas.microsoft.com/office/drawing/2014/main" val="4147396702"/>
                    </a:ext>
                  </a:extLst>
                </a:gridCol>
                <a:gridCol w="986636">
                  <a:extLst>
                    <a:ext uri="{9D8B030D-6E8A-4147-A177-3AD203B41FA5}">
                      <a16:colId xmlns:a16="http://schemas.microsoft.com/office/drawing/2014/main" val="3123886157"/>
                    </a:ext>
                  </a:extLst>
                </a:gridCol>
                <a:gridCol w="1161526">
                  <a:extLst>
                    <a:ext uri="{9D8B030D-6E8A-4147-A177-3AD203B41FA5}">
                      <a16:colId xmlns:a16="http://schemas.microsoft.com/office/drawing/2014/main" val="141848638"/>
                    </a:ext>
                  </a:extLst>
                </a:gridCol>
                <a:gridCol w="1161526">
                  <a:extLst>
                    <a:ext uri="{9D8B030D-6E8A-4147-A177-3AD203B41FA5}">
                      <a16:colId xmlns:a16="http://schemas.microsoft.com/office/drawing/2014/main" val="2420165206"/>
                    </a:ext>
                  </a:extLst>
                </a:gridCol>
                <a:gridCol w="1161526">
                  <a:extLst>
                    <a:ext uri="{9D8B030D-6E8A-4147-A177-3AD203B41FA5}">
                      <a16:colId xmlns:a16="http://schemas.microsoft.com/office/drawing/2014/main" val="3092323027"/>
                    </a:ext>
                  </a:extLst>
                </a:gridCol>
                <a:gridCol w="1161526">
                  <a:extLst>
                    <a:ext uri="{9D8B030D-6E8A-4147-A177-3AD203B41FA5}">
                      <a16:colId xmlns:a16="http://schemas.microsoft.com/office/drawing/2014/main" val="258114587"/>
                    </a:ext>
                  </a:extLst>
                </a:gridCol>
                <a:gridCol w="1161526">
                  <a:extLst>
                    <a:ext uri="{9D8B030D-6E8A-4147-A177-3AD203B41FA5}">
                      <a16:colId xmlns:a16="http://schemas.microsoft.com/office/drawing/2014/main" val="3231249855"/>
                    </a:ext>
                  </a:extLst>
                </a:gridCol>
              </a:tblGrid>
              <a:tr h="604902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FishNum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species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F89.5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F173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F260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876399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lakeTrout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599632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LT001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lakeTrout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92762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LT001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lakeTrout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44402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986268"/>
                  </a:ext>
                </a:extLst>
              </a:tr>
              <a:tr h="562948">
                <a:tc>
                  <a:txBody>
                    <a:bodyPr/>
                    <a:lstStyle/>
                    <a:p>
                      <a:pPr algn="ctr"/>
                      <a:r>
                        <a:rPr lang="en-CA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smallmouthBass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595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94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53F7F7-812B-C196-311B-4F6D8B4F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29049"/>
          </a:xfrm>
        </p:spPr>
        <p:txBody>
          <a:bodyPr/>
          <a:lstStyle/>
          <a:p>
            <a:r>
              <a:rPr kumimoji="1" lang="en-US" altLang="zh-HK" dirty="0"/>
              <a:t>Data Exploration</a:t>
            </a:r>
            <a:endParaRPr kumimoji="1" lang="zh-HK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0918950-9AC5-FC74-C232-5016F769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25" y="1799339"/>
            <a:ext cx="9993528" cy="399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0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9AAEC-0898-27CA-7A12-2FD748A9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0342"/>
            <a:ext cx="10691265" cy="621480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Proposed Methods</a:t>
            </a:r>
            <a:endParaRPr kumimoji="1" lang="zh-HK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B82436D-DF00-70F5-2E0C-3AC2ADE300E8}"/>
              </a:ext>
            </a:extLst>
          </p:cNvPr>
          <p:cNvSpPr txBox="1"/>
          <p:nvPr/>
        </p:nvSpPr>
        <p:spPr>
          <a:xfrm>
            <a:off x="1124464" y="1541489"/>
            <a:ext cx="40907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Multinomial Regression</a:t>
            </a:r>
          </a:p>
          <a:p>
            <a:endParaRPr kumimoji="1" lang="en-US" altLang="zh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Simple baseline model to test linear relationship in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HK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Provide interpretable results and computationally lightweight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6059EE-FB27-7246-3F96-9133AA9C8576}"/>
              </a:ext>
            </a:extLst>
          </p:cNvPr>
          <p:cNvSpPr txBox="1"/>
          <p:nvPr/>
        </p:nvSpPr>
        <p:spPr>
          <a:xfrm>
            <a:off x="6333421" y="1541488"/>
            <a:ext cx="40907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Random Forest</a:t>
            </a:r>
          </a:p>
          <a:p>
            <a:endParaRPr kumimoji="1" lang="en-US" altLang="zh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Handle hierarchical structure of high-dimensional  fish signatures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HK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Robust to noise and overfitting, reveal feature importance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688A775-173E-8829-0BE1-C4F530540679}"/>
              </a:ext>
            </a:extLst>
          </p:cNvPr>
          <p:cNvSpPr txBox="1"/>
          <p:nvPr/>
        </p:nvSpPr>
        <p:spPr>
          <a:xfrm>
            <a:off x="1124465" y="3966518"/>
            <a:ext cx="40907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Deep Neural Network</a:t>
            </a:r>
          </a:p>
          <a:p>
            <a:endParaRPr kumimoji="1" lang="en-US" altLang="zh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Learn complex, non-linear hierarchical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HK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Automatic layered abstraction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26B6AFB-7F3D-27A4-FEC2-5D081BCB2398}"/>
              </a:ext>
            </a:extLst>
          </p:cNvPr>
          <p:cNvSpPr txBox="1"/>
          <p:nvPr/>
        </p:nvSpPr>
        <p:spPr>
          <a:xfrm>
            <a:off x="6333422" y="3966518"/>
            <a:ext cx="40907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LSTM (Long Short-Term Memory)</a:t>
            </a:r>
          </a:p>
          <a:p>
            <a:endParaRPr kumimoji="1" lang="en-US" altLang="zh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Designed for sequential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HK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500" dirty="0"/>
              <a:t>Incorporate fish habitat context for temporal patterns</a:t>
            </a:r>
            <a:endParaRPr kumimoji="1" lang="zh-HK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99148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E407-39C1-9BB8-2EBE-BDBC7904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91AA3-8AD7-DC3D-CD5A-CFFBD359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0342"/>
            <a:ext cx="10691265" cy="493779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Proposed Methods – Input Data</a:t>
            </a:r>
            <a:endParaRPr kumimoji="1" lang="zh-HK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5C667C2-BB97-83F3-612C-49F45EFBA477}"/>
              </a:ext>
            </a:extLst>
          </p:cNvPr>
          <p:cNvSpPr txBox="1"/>
          <p:nvPr/>
        </p:nvSpPr>
        <p:spPr>
          <a:xfrm>
            <a:off x="1124463" y="1247499"/>
            <a:ext cx="4090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Multinomial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Mean TS for each fish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Standardized and apply PCA (first two PCs)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Dim: 43 x 267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559F41D-813D-9FB9-4EA0-9950618E7EAA}"/>
              </a:ext>
            </a:extLst>
          </p:cNvPr>
          <p:cNvSpPr txBox="1"/>
          <p:nvPr/>
        </p:nvSpPr>
        <p:spPr>
          <a:xfrm>
            <a:off x="6333419" y="1247499"/>
            <a:ext cx="40907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Dim: 14392 x 267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4D3E79-8BFB-4AE2-86F3-C73527FAC83D}"/>
              </a:ext>
            </a:extLst>
          </p:cNvPr>
          <p:cNvSpPr txBox="1"/>
          <p:nvPr/>
        </p:nvSpPr>
        <p:spPr>
          <a:xfrm>
            <a:off x="1124463" y="3597336"/>
            <a:ext cx="40907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Deep Neural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Raw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Dim: 14392 x 267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9360075-749E-DA31-0ED3-0AD84450E749}"/>
              </a:ext>
            </a:extLst>
          </p:cNvPr>
          <p:cNvSpPr txBox="1"/>
          <p:nvPr/>
        </p:nvSpPr>
        <p:spPr>
          <a:xfrm>
            <a:off x="6333419" y="3597336"/>
            <a:ext cx="40907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LSTM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Standardized 3D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Dim: 43 x 1619 (N) x 267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HK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DBFE156-B183-FFB3-3A64-20086EDDB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20" y="2225020"/>
            <a:ext cx="3874060" cy="126066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D22FAF0-6138-EBBA-2BE7-0718DFAE9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463" y="4533729"/>
            <a:ext cx="3874060" cy="126066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F9384E-26A9-CED7-D384-E8EC20E95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463" y="2225020"/>
            <a:ext cx="3881142" cy="1260663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ADCEF599-2017-2B61-9395-2A69C58F08C9}"/>
              </a:ext>
            </a:extLst>
          </p:cNvPr>
          <p:cNvGrpSpPr/>
          <p:nvPr/>
        </p:nvGrpSpPr>
        <p:grpSpPr>
          <a:xfrm>
            <a:off x="6333420" y="4276481"/>
            <a:ext cx="4206984" cy="1895158"/>
            <a:chOff x="6275296" y="4262500"/>
            <a:chExt cx="4206984" cy="1895158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E7472DB4-32E0-0F24-3EF9-42772CD71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177" t="15426" r="5633" b="18090"/>
            <a:stretch/>
          </p:blipFill>
          <p:spPr>
            <a:xfrm>
              <a:off x="6391543" y="4390016"/>
              <a:ext cx="4090737" cy="1694046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F1F45725-ACBF-7B20-568F-D36A31BAEC74}"/>
                </a:ext>
              </a:extLst>
            </p:cNvPr>
            <p:cNvSpPr txBox="1"/>
            <p:nvPr/>
          </p:nvSpPr>
          <p:spPr>
            <a:xfrm rot="16200000">
              <a:off x="5769142" y="4774412"/>
              <a:ext cx="1381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900" dirty="0"/>
                <a:t>Frequency response (Dim 3)</a:t>
              </a:r>
              <a:endParaRPr kumimoji="1" lang="zh-HK" altLang="en-US" sz="900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26A3003-3EAF-448D-56A9-F09BCB246DB8}"/>
                </a:ext>
              </a:extLst>
            </p:cNvPr>
            <p:cNvSpPr txBox="1"/>
            <p:nvPr/>
          </p:nvSpPr>
          <p:spPr>
            <a:xfrm rot="5400000">
              <a:off x="8852565" y="4917660"/>
              <a:ext cx="9384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900" dirty="0"/>
                <a:t>Fish ID (Dim 1)</a:t>
              </a:r>
              <a:endParaRPr kumimoji="1" lang="zh-HK" altLang="en-US" sz="9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64C8A13-6A92-8E73-5A7E-0F8820C5A360}"/>
                </a:ext>
              </a:extLst>
            </p:cNvPr>
            <p:cNvSpPr txBox="1"/>
            <p:nvPr/>
          </p:nvSpPr>
          <p:spPr>
            <a:xfrm>
              <a:off x="6625967" y="4488113"/>
              <a:ext cx="4578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600" dirty="0"/>
                <a:t>Ping1</a:t>
              </a:r>
              <a:endParaRPr kumimoji="1" lang="zh-HK" altLang="en-US" sz="600" dirty="0"/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E448F93-8278-F625-70FC-7519B0C43492}"/>
                </a:ext>
              </a:extLst>
            </p:cNvPr>
            <p:cNvSpPr txBox="1"/>
            <p:nvPr/>
          </p:nvSpPr>
          <p:spPr>
            <a:xfrm>
              <a:off x="6614255" y="4649660"/>
              <a:ext cx="43394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HK" sz="600" dirty="0"/>
                <a:t>Ping2</a:t>
              </a:r>
              <a:endParaRPr lang="zh-HK" altLang="en-US" sz="600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31280ED5-9A49-BFF7-A070-E55E17331206}"/>
                </a:ext>
              </a:extLst>
            </p:cNvPr>
            <p:cNvSpPr txBox="1"/>
            <p:nvPr/>
          </p:nvSpPr>
          <p:spPr>
            <a:xfrm>
              <a:off x="6614254" y="4800301"/>
              <a:ext cx="43394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HK" sz="600" dirty="0"/>
                <a:t>Ping3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BF4FC437-006C-A0A6-5A6C-D41DC3D9116F}"/>
                </a:ext>
              </a:extLst>
            </p:cNvPr>
            <p:cNvSpPr txBox="1"/>
            <p:nvPr/>
          </p:nvSpPr>
          <p:spPr>
            <a:xfrm>
              <a:off x="6635266" y="5350931"/>
              <a:ext cx="539015" cy="211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750" dirty="0"/>
                <a:t>SMB013</a:t>
              </a:r>
              <a:endParaRPr kumimoji="1" lang="zh-HK" altLang="en-US" sz="750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6E78DFF1-A49D-685B-45C7-6616AEB44458}"/>
                </a:ext>
              </a:extLst>
            </p:cNvPr>
            <p:cNvSpPr txBox="1"/>
            <p:nvPr/>
          </p:nvSpPr>
          <p:spPr>
            <a:xfrm>
              <a:off x="6582089" y="5000801"/>
              <a:ext cx="592192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700" dirty="0"/>
                <a:t>LWT001</a:t>
              </a:r>
              <a:endParaRPr kumimoji="1" lang="zh-HK" altLang="en-US" sz="700" dirty="0"/>
            </a:p>
          </p:txBody>
        </p: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DCD47886-2A72-CE47-A1A4-F5AD6B0C17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81073" y="4390016"/>
              <a:ext cx="192505" cy="980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48EE0166-1841-27F1-088E-806FB1A4B2EE}"/>
                </a:ext>
              </a:extLst>
            </p:cNvPr>
            <p:cNvSpPr txBox="1"/>
            <p:nvPr/>
          </p:nvSpPr>
          <p:spPr>
            <a:xfrm>
              <a:off x="8909774" y="4262500"/>
              <a:ext cx="46364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700" dirty="0"/>
                <a:t>LT001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712C673-4F78-C535-7E89-459B50AAFF98}"/>
                </a:ext>
              </a:extLst>
            </p:cNvPr>
            <p:cNvSpPr txBox="1"/>
            <p:nvPr/>
          </p:nvSpPr>
          <p:spPr>
            <a:xfrm>
              <a:off x="7120892" y="5926826"/>
              <a:ext cx="12944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HK" sz="900" dirty="0"/>
                <a:t>Ping sequence (Dim 2)</a:t>
              </a:r>
              <a:endParaRPr kumimoji="1" lang="zh-HK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453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BE2C-F428-8305-C5A0-18E030D3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44242F-C0BA-7BFF-179E-EDD9A955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0342"/>
            <a:ext cx="10691265" cy="493779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Results</a:t>
            </a:r>
            <a:endParaRPr kumimoji="1" lang="zh-HK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567C10E-9D7A-4F2E-9789-6DD625F97138}"/>
              </a:ext>
            </a:extLst>
          </p:cNvPr>
          <p:cNvSpPr txBox="1"/>
          <p:nvPr/>
        </p:nvSpPr>
        <p:spPr>
          <a:xfrm>
            <a:off x="1124462" y="1313085"/>
            <a:ext cx="4090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Multinomial Regression</a:t>
            </a:r>
          </a:p>
          <a:p>
            <a:endParaRPr kumimoji="1" lang="en-US" altLang="zh-HK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Accuracy: 37.5%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Apply PCA and uses first two PCs (Cum Var: 95.9%)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F198B7B-4049-8374-B04A-01476C737310}"/>
              </a:ext>
            </a:extLst>
          </p:cNvPr>
          <p:cNvSpPr txBox="1"/>
          <p:nvPr/>
        </p:nvSpPr>
        <p:spPr>
          <a:xfrm>
            <a:off x="6333419" y="1308318"/>
            <a:ext cx="4090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Random Forest</a:t>
            </a:r>
          </a:p>
          <a:p>
            <a:endParaRPr kumimoji="1" lang="en-US" altLang="zh-HK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Accuracy: 62.5%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 err="1"/>
              <a:t>Mtry</a:t>
            </a:r>
            <a:r>
              <a:rPr kumimoji="1" lang="en-US" altLang="zh-HK" sz="1200" dirty="0"/>
              <a:t>: 20, </a:t>
            </a:r>
            <a:r>
              <a:rPr kumimoji="1" lang="en-US" altLang="zh-HK" sz="1200" dirty="0" err="1"/>
              <a:t>n_Trees</a:t>
            </a:r>
            <a:r>
              <a:rPr kumimoji="1" lang="en-US" altLang="zh-HK" sz="1200" dirty="0"/>
              <a:t>: 400, </a:t>
            </a:r>
            <a:r>
              <a:rPr kumimoji="1" lang="en-US" altLang="zh-HK" sz="1200" dirty="0" err="1"/>
              <a:t>min_n</a:t>
            </a:r>
            <a:r>
              <a:rPr kumimoji="1" lang="en-US" altLang="zh-HK" sz="1200" dirty="0"/>
              <a:t>: 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A1DF7D7-80C9-5B6A-96B3-8E01FDF12382}"/>
              </a:ext>
            </a:extLst>
          </p:cNvPr>
          <p:cNvSpPr txBox="1"/>
          <p:nvPr/>
        </p:nvSpPr>
        <p:spPr>
          <a:xfrm>
            <a:off x="1124462" y="3714334"/>
            <a:ext cx="4090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Deep Neural Network</a:t>
            </a:r>
          </a:p>
          <a:p>
            <a:endParaRPr kumimoji="1" lang="en-US" altLang="zh-HK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Accuracy: 62.5%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3 hidden layer, epochs: 128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E4F9505-D12E-F636-C1AA-C8D5828278E2}"/>
              </a:ext>
            </a:extLst>
          </p:cNvPr>
          <p:cNvSpPr txBox="1"/>
          <p:nvPr/>
        </p:nvSpPr>
        <p:spPr>
          <a:xfrm>
            <a:off x="6333418" y="3714334"/>
            <a:ext cx="4090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LSTM </a:t>
            </a:r>
          </a:p>
          <a:p>
            <a:endParaRPr kumimoji="1" lang="en-US" altLang="zh-HK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Accuracy: 62.5%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HK" sz="1200" dirty="0"/>
              <a:t>2 LSTM layers, 1 hidden layer, epochs: 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HK" dirty="0"/>
          </a:p>
        </p:txBody>
      </p:sp>
      <p:graphicFrame>
        <p:nvGraphicFramePr>
          <p:cNvPr id="8" name="內容版面配置區 4">
            <a:extLst>
              <a:ext uri="{FF2B5EF4-FFF2-40B4-BE49-F238E27FC236}">
                <a16:creationId xmlns:a16="http://schemas.microsoft.com/office/drawing/2014/main" id="{7FA2FB6D-ACD1-1126-A5C6-4A37336C2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876262"/>
              </p:ext>
            </p:extLst>
          </p:nvPr>
        </p:nvGraphicFramePr>
        <p:xfrm>
          <a:off x="1355470" y="2365774"/>
          <a:ext cx="31631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70">
                  <a:extLst>
                    <a:ext uri="{9D8B030D-6E8A-4147-A177-3AD203B41FA5}">
                      <a16:colId xmlns:a16="http://schemas.microsoft.com/office/drawing/2014/main" val="2162186612"/>
                    </a:ext>
                  </a:extLst>
                </a:gridCol>
                <a:gridCol w="709814">
                  <a:extLst>
                    <a:ext uri="{9D8B030D-6E8A-4147-A177-3AD203B41FA5}">
                      <a16:colId xmlns:a16="http://schemas.microsoft.com/office/drawing/2014/main" val="2420165206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3092323027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258114587"/>
                    </a:ext>
                  </a:extLst>
                </a:gridCol>
              </a:tblGrid>
              <a:tr h="222162">
                <a:tc>
                  <a:txBody>
                    <a:bodyPr/>
                    <a:lstStyle/>
                    <a:p>
                      <a:pPr algn="ctr"/>
                      <a:r>
                        <a:rPr lang="en-CA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Actual</a:t>
                      </a:r>
                    </a:p>
                    <a:p>
                      <a:pPr algn="ctr"/>
                      <a:r>
                        <a:rPr lang="en-CA" altLang="zh-HK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Predicted</a:t>
                      </a:r>
                      <a:endParaRPr lang="en-CA" sz="1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876399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59963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9276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44402"/>
                  </a:ext>
                </a:extLst>
              </a:tr>
            </a:tbl>
          </a:graphicData>
        </a:graphic>
      </p:graphicFrame>
      <p:graphicFrame>
        <p:nvGraphicFramePr>
          <p:cNvPr id="16" name="內容版面配置區 4">
            <a:extLst>
              <a:ext uri="{FF2B5EF4-FFF2-40B4-BE49-F238E27FC236}">
                <a16:creationId xmlns:a16="http://schemas.microsoft.com/office/drawing/2014/main" id="{6D6C5846-D6AB-56F3-90E8-FFF5BC4491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567523"/>
              </p:ext>
            </p:extLst>
          </p:nvPr>
        </p:nvGraphicFramePr>
        <p:xfrm>
          <a:off x="6612551" y="2365774"/>
          <a:ext cx="31631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70">
                  <a:extLst>
                    <a:ext uri="{9D8B030D-6E8A-4147-A177-3AD203B41FA5}">
                      <a16:colId xmlns:a16="http://schemas.microsoft.com/office/drawing/2014/main" val="2162186612"/>
                    </a:ext>
                  </a:extLst>
                </a:gridCol>
                <a:gridCol w="709814">
                  <a:extLst>
                    <a:ext uri="{9D8B030D-6E8A-4147-A177-3AD203B41FA5}">
                      <a16:colId xmlns:a16="http://schemas.microsoft.com/office/drawing/2014/main" val="2420165206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3092323027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258114587"/>
                    </a:ext>
                  </a:extLst>
                </a:gridCol>
              </a:tblGrid>
              <a:tr h="222162">
                <a:tc>
                  <a:txBody>
                    <a:bodyPr/>
                    <a:lstStyle/>
                    <a:p>
                      <a:pPr algn="ctr"/>
                      <a:r>
                        <a:rPr lang="en-CA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Actual</a:t>
                      </a:r>
                    </a:p>
                    <a:p>
                      <a:pPr algn="ctr"/>
                      <a:r>
                        <a:rPr lang="en-CA" altLang="zh-HK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Predicted</a:t>
                      </a:r>
                      <a:endParaRPr lang="en-CA" sz="1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876399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59963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9276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44402"/>
                  </a:ext>
                </a:extLst>
              </a:tr>
            </a:tbl>
          </a:graphicData>
        </a:graphic>
      </p:graphicFrame>
      <p:graphicFrame>
        <p:nvGraphicFramePr>
          <p:cNvPr id="17" name="內容版面配置區 4">
            <a:extLst>
              <a:ext uri="{FF2B5EF4-FFF2-40B4-BE49-F238E27FC236}">
                <a16:creationId xmlns:a16="http://schemas.microsoft.com/office/drawing/2014/main" id="{350740C1-1E8D-B1E2-39EB-E5750F8809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684587"/>
              </p:ext>
            </p:extLst>
          </p:nvPr>
        </p:nvGraphicFramePr>
        <p:xfrm>
          <a:off x="1355470" y="4777616"/>
          <a:ext cx="31631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70">
                  <a:extLst>
                    <a:ext uri="{9D8B030D-6E8A-4147-A177-3AD203B41FA5}">
                      <a16:colId xmlns:a16="http://schemas.microsoft.com/office/drawing/2014/main" val="2162186612"/>
                    </a:ext>
                  </a:extLst>
                </a:gridCol>
                <a:gridCol w="709814">
                  <a:extLst>
                    <a:ext uri="{9D8B030D-6E8A-4147-A177-3AD203B41FA5}">
                      <a16:colId xmlns:a16="http://schemas.microsoft.com/office/drawing/2014/main" val="2420165206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3092323027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258114587"/>
                    </a:ext>
                  </a:extLst>
                </a:gridCol>
              </a:tblGrid>
              <a:tr h="222162">
                <a:tc>
                  <a:txBody>
                    <a:bodyPr/>
                    <a:lstStyle/>
                    <a:p>
                      <a:pPr algn="ctr"/>
                      <a:r>
                        <a:rPr lang="en-CA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Actual</a:t>
                      </a:r>
                    </a:p>
                    <a:p>
                      <a:pPr algn="ctr"/>
                      <a:r>
                        <a:rPr lang="en-CA" altLang="zh-HK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Predicted</a:t>
                      </a:r>
                      <a:endParaRPr lang="en-CA" sz="1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876399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59963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9276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44402"/>
                  </a:ext>
                </a:extLst>
              </a:tr>
            </a:tbl>
          </a:graphicData>
        </a:graphic>
      </p:graphicFrame>
      <p:graphicFrame>
        <p:nvGraphicFramePr>
          <p:cNvPr id="23" name="內容版面配置區 4">
            <a:extLst>
              <a:ext uri="{FF2B5EF4-FFF2-40B4-BE49-F238E27FC236}">
                <a16:creationId xmlns:a16="http://schemas.microsoft.com/office/drawing/2014/main" id="{45196641-F3F8-BB00-A546-CA4C5C420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5211774"/>
              </p:ext>
            </p:extLst>
          </p:nvPr>
        </p:nvGraphicFramePr>
        <p:xfrm>
          <a:off x="6612551" y="4777616"/>
          <a:ext cx="31631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70">
                  <a:extLst>
                    <a:ext uri="{9D8B030D-6E8A-4147-A177-3AD203B41FA5}">
                      <a16:colId xmlns:a16="http://schemas.microsoft.com/office/drawing/2014/main" val="2162186612"/>
                    </a:ext>
                  </a:extLst>
                </a:gridCol>
                <a:gridCol w="709814">
                  <a:extLst>
                    <a:ext uri="{9D8B030D-6E8A-4147-A177-3AD203B41FA5}">
                      <a16:colId xmlns:a16="http://schemas.microsoft.com/office/drawing/2014/main" val="2420165206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3092323027"/>
                    </a:ext>
                  </a:extLst>
                </a:gridCol>
                <a:gridCol w="790792">
                  <a:extLst>
                    <a:ext uri="{9D8B030D-6E8A-4147-A177-3AD203B41FA5}">
                      <a16:colId xmlns:a16="http://schemas.microsoft.com/office/drawing/2014/main" val="258114587"/>
                    </a:ext>
                  </a:extLst>
                </a:gridCol>
              </a:tblGrid>
              <a:tr h="222162">
                <a:tc>
                  <a:txBody>
                    <a:bodyPr/>
                    <a:lstStyle/>
                    <a:p>
                      <a:pPr algn="ctr"/>
                      <a:r>
                        <a:rPr lang="en-CA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Actual</a:t>
                      </a:r>
                    </a:p>
                    <a:p>
                      <a:pPr algn="ctr"/>
                      <a:r>
                        <a:rPr lang="en-CA" altLang="zh-HK" sz="10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Predicted</a:t>
                      </a:r>
                      <a:endParaRPr lang="en-CA" sz="1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altLang="zh-TW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876399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59963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LWT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392762"/>
                  </a:ext>
                </a:extLst>
              </a:tr>
              <a:tr h="141483">
                <a:tc>
                  <a:txBody>
                    <a:bodyPr/>
                    <a:lstStyle/>
                    <a:p>
                      <a:pPr algn="ctr"/>
                      <a:r>
                        <a:rPr lang="en-CA" altLang="zh-HK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SMB</a:t>
                      </a:r>
                      <a:endParaRPr lang="en-CA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44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17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2FAE9-BD76-7584-DFCC-150C586D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31520"/>
          </a:xfrm>
        </p:spPr>
        <p:txBody>
          <a:bodyPr/>
          <a:lstStyle/>
          <a:p>
            <a:r>
              <a:rPr kumimoji="1" lang="en-US" altLang="zh-HK" dirty="0"/>
              <a:t>Future STEPs</a:t>
            </a:r>
            <a:endParaRPr kumimoji="1"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03A385-E958-1DB8-BC1B-B78DFB583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HK" dirty="0"/>
              <a:t>Enhanced LSTM with attention mechanism</a:t>
            </a:r>
          </a:p>
          <a:p>
            <a:pPr lvl="1"/>
            <a:r>
              <a:rPr kumimoji="1" lang="en-US" altLang="zh-HK" dirty="0"/>
              <a:t>Focus on most informative signal</a:t>
            </a:r>
          </a:p>
          <a:p>
            <a:pPr lvl="1"/>
            <a:r>
              <a:rPr kumimoji="1" lang="en-US" altLang="zh-HK" dirty="0"/>
              <a:t>Less focus on the less important signal</a:t>
            </a:r>
          </a:p>
          <a:p>
            <a:pPr lvl="1"/>
            <a:endParaRPr kumimoji="1" lang="en-US" altLang="zh-HK" dirty="0"/>
          </a:p>
          <a:p>
            <a:r>
              <a:rPr kumimoji="1" lang="en-US" altLang="zh-HK" dirty="0"/>
              <a:t>Incorporate Fish characteristics</a:t>
            </a:r>
          </a:p>
          <a:p>
            <a:pPr lvl="1"/>
            <a:r>
              <a:rPr kumimoji="1" lang="en-US" altLang="zh-HK" dirty="0"/>
              <a:t>Signal variation within species might relate to weight, total length, gender, etc. </a:t>
            </a:r>
            <a:endParaRPr kumimoji="1" lang="zh-HK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31330F-FE07-2AE3-A7C3-4836321611A4}"/>
              </a:ext>
            </a:extLst>
          </p:cNvPr>
          <p:cNvSpPr txBox="1"/>
          <p:nvPr/>
        </p:nvSpPr>
        <p:spPr>
          <a:xfrm>
            <a:off x="988540" y="5758934"/>
            <a:ext cx="604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HK" dirty="0"/>
              <a:t>More details can be view at GitHub: </a:t>
            </a:r>
            <a:r>
              <a:rPr kumimoji="1" lang="en-US" altLang="zh-HK" dirty="0">
                <a:hlinkClick r:id="rId2"/>
              </a:rPr>
              <a:t>Fish Classification</a:t>
            </a:r>
            <a:endParaRPr kumimoji="1"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04153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C679AA9-1B4D-4D37-4536-9765D7E5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kumimoji="1" lang="en-US" altLang="zh-HK" sz="6000"/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5637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766</Words>
  <Application>Microsoft Macintosh PowerPoint</Application>
  <PresentationFormat>寬螢幕</PresentationFormat>
  <Paragraphs>252</Paragraphs>
  <Slides>12</Slides>
  <Notes>3</Notes>
  <HiddenSlides>0</HiddenSlides>
  <MMClips>1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Consolas</vt:lpstr>
      <vt:lpstr>Univers Condensed</vt:lpstr>
      <vt:lpstr>ChronicleVTI</vt:lpstr>
      <vt:lpstr>Automated Fish Species Classification Using Sonar and Machine Learning</vt:lpstr>
      <vt:lpstr>Background</vt:lpstr>
      <vt:lpstr>Existing Methods</vt:lpstr>
      <vt:lpstr>Research Questions</vt:lpstr>
      <vt:lpstr>Data - RAW</vt:lpstr>
      <vt:lpstr>Data - Processed</vt:lpstr>
      <vt:lpstr>Data Exploration</vt:lpstr>
      <vt:lpstr>Proposed Methods</vt:lpstr>
      <vt:lpstr>Proposed Methods – Input Data</vt:lpstr>
      <vt:lpstr>Results</vt:lpstr>
      <vt:lpstr>Future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Shiheng Huang</dc:creator>
  <cp:lastModifiedBy>Shiheng Huang</cp:lastModifiedBy>
  <cp:revision>3</cp:revision>
  <dcterms:created xsi:type="dcterms:W3CDTF">2025-03-31T01:01:29Z</dcterms:created>
  <dcterms:modified xsi:type="dcterms:W3CDTF">2025-04-03T02:14:04Z</dcterms:modified>
</cp:coreProperties>
</file>